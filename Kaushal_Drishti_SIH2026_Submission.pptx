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1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1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1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12192000"/>
  <p:notesSz cx="6858000" cy="9144000"/>
  <p:defaultTextStyle>
    <a:defPPr lvl="0">
      <a:defRPr lang="en-US"/>
    </a:defPPr>
    <a:lvl1pPr defTabSz="457200" lvl="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defTabSz="457200" lvl="1" marL="45720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defTabSz="457200" lvl="2" marL="91440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defTabSz="457200" lvl="3" marL="137160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defTabSz="457200" lvl="4" marL="182880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defTabSz="914400" eaLnBrk="1" hangingPunct="1" latinLnBrk="0" lvl="5" marL="2286000" rtl="0" algn="l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defTabSz="914400" eaLnBrk="1" hangingPunct="1" latinLnBrk="0" lvl="6" marL="2743200" rtl="0" algn="l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defTabSz="914400" eaLnBrk="1" hangingPunct="1" latinLnBrk="0" lvl="7" marL="3200400" rtl="0" algn="l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defTabSz="914400" eaLnBrk="1" hangingPunct="1" latinLnBrk="0" lvl="8" marL="3657600" rtl="0" algn="l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1.xml><?xml version="1.0" encoding="utf-8"?>
<a:tblStyleLst xmlns:a="http://schemas.openxmlformats.org/drawingml/2006/main" xmlns:r="http://schemas.openxmlformats.org/officeDocument/2006/relationships" def="{90651C3A-4460-11DB-9652-00E08161165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cmpd="sng" w="12700">
              <a:solidFill>
                <a:schemeClr val="lt1"/>
              </a:solidFill>
            </a:ln>
          </a:left>
          <a:right>
            <a:ln cmpd="sng" w="12700">
              <a:solidFill>
                <a:schemeClr val="lt1"/>
              </a:solidFill>
            </a:ln>
          </a:right>
          <a:top>
            <a:ln cmpd="sng" w="12700">
              <a:solidFill>
                <a:schemeClr val="lt1"/>
              </a:solidFill>
            </a:ln>
          </a:top>
          <a:bottom>
            <a:ln cmpd="sng" w="12700">
              <a:solidFill>
                <a:schemeClr val="lt1"/>
              </a:solidFill>
            </a:ln>
          </a:bottom>
          <a:insideH>
            <a:ln cmpd="sng" w="12700">
              <a:solidFill>
                <a:schemeClr val="lt1"/>
              </a:solidFill>
            </a:ln>
          </a:insideH>
          <a:insideV>
            <a:ln cmpd="sng"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cmpd="sng"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cmpd="sng"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tableStyles" Target="tableStyles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MS PGothic" panose="020B0600070205080204" pitchFamily="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r="59916"/>
          <a:stretch>
            <a:fillRect/>
          </a:stretch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3700" y="1780540"/>
            <a:ext cx="614362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sz="1700" b="1">
                <a:latin typeface="Arial"/>
              </a:rPr>
              <a:t>Problem Statement ID – </a:t>
            </a:r>
            <a:r>
              <a:rPr sz="1700" b="0">
                <a:latin typeface="Arial"/>
              </a:rPr>
              <a:t>SIH26245</a:t>
            </a:r>
            <a:endParaRPr lang="en-US" alt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marL="0" indent="0">
              <a:lnSpc>
                <a:spcPct val="160000"/>
              </a:lnSpc>
              <a:buNone/>
            </a:pPr>
            <a:r>
              <a:rPr sz="1700" b="1">
                <a:latin typeface="Arial"/>
              </a:rPr>
              <a:t>Problem Statement Title- </a:t>
            </a:r>
            <a:r>
              <a:rPr sz="1700" b="0">
                <a:latin typeface="Arial"/>
              </a:rPr>
              <a:t>AI-Powered Real-Time Privacy-Preserving Video Analytics Platform for Skill Training Centres</a:t>
            </a:r>
          </a:p>
          <a:p>
            <a:pPr algn="l" marL="0" indent="0">
              <a:lnSpc>
                <a:spcPct val="160000"/>
              </a:lnSpc>
              <a:buNone/>
            </a:pPr>
            <a:r>
              <a:rPr sz="1700" b="1">
                <a:latin typeface="Arial"/>
              </a:rPr>
              <a:t>Theme- </a:t>
            </a:r>
            <a:r>
              <a:rPr sz="1700" b="0">
                <a:latin typeface="Arial"/>
              </a:rPr>
              <a:t>Smart Automation / Governance</a:t>
            </a:r>
          </a:p>
          <a:p>
            <a:pPr algn="l" marL="0" indent="0">
              <a:lnSpc>
                <a:spcPct val="160000"/>
              </a:lnSpc>
              <a:buNone/>
            </a:pPr>
            <a:r>
              <a:rPr sz="1700" b="1">
                <a:latin typeface="Arial"/>
              </a:rPr>
              <a:t>PS Category- </a:t>
            </a:r>
            <a:r>
              <a:rPr sz="1700" b="0">
                <a:latin typeface="Arial"/>
              </a:rPr>
              <a:t>Software</a:t>
            </a:r>
          </a:p>
          <a:p>
            <a:pPr algn="l" marL="0" indent="0">
              <a:lnSpc>
                <a:spcPct val="160000"/>
              </a:lnSpc>
              <a:buNone/>
            </a:pPr>
            <a:r>
              <a:rPr sz="1700" b="1">
                <a:latin typeface="Arial"/>
              </a:rPr>
              <a:t>Team ID- </a:t>
            </a:r>
            <a:r>
              <a:rPr sz="1700" b="0">
                <a:latin typeface="Arial"/>
              </a:rPr>
              <a:t>120</a:t>
            </a:r>
          </a:p>
          <a:p>
            <a:pPr algn="l" marL="0" indent="0">
              <a:lnSpc>
                <a:spcPct val="160000"/>
              </a:lnSpc>
              <a:buNone/>
            </a:pPr>
            <a:r>
              <a:rPr sz="1700" b="1">
                <a:latin typeface="Arial"/>
              </a:rPr>
              <a:t>Team Name (Registered on portal)- </a:t>
            </a:r>
            <a:r>
              <a:rPr sz="1700" b="0">
                <a:latin typeface="Arial"/>
              </a:rPr>
              <a:t>Neurodivergents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@SIH Idea </a:t>
            </a:r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submission- Template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Oval 1" descr="Your startup LOGO"/>
          <p:cNvSpPr/>
          <p:nvPr/>
        </p:nvSpPr>
        <p:spPr>
          <a:xfrm>
            <a:off x="308610" y="256540"/>
            <a:ext cx="1839595" cy="80708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dirty="0"/>
              <a:t>Neuro</a:t>
            </a:r>
            <a:endParaRPr lang="en-US" altLang="en-IN" dirty="0"/>
          </a:p>
          <a:p>
            <a:pPr algn="ctr"/>
            <a:r>
              <a:rPr lang="en-US" altLang="en-IN" dirty="0"/>
              <a:t>divergents</a:t>
            </a:r>
            <a:endParaRPr lang="en-US" altLang="en-IN" dirty="0"/>
          </a:p>
        </p:txBody>
      </p:sp>
      <p:sp>
        <p:nvSpPr>
          <p:cNvPr id="3" name="Rectangle 2"/>
          <p:cNvSpPr/>
          <p:nvPr/>
        </p:nvSpPr>
        <p:spPr>
          <a:xfrm>
            <a:off x="182880" y="1361440"/>
            <a:ext cx="5913755" cy="4946650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en-US"/>
          </a:p>
        </p:txBody>
      </p:sp>
      <p:sp>
        <p:nvSpPr>
          <p:cNvPr id="4" name="TextBox 8"/>
          <p:cNvSpPr txBox="1">
            <a:spLocks noChangeArrowheads="1"/>
          </p:cNvSpPr>
          <p:nvPr/>
        </p:nvSpPr>
        <p:spPr bwMode="auto">
          <a:xfrm>
            <a:off x="183515" y="1362075"/>
            <a:ext cx="5896610" cy="49460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sz="1300" b="1">
                <a:latin typeface="Times New Roman"/>
              </a:rPr>
              <a:t>Kaushal-Drishti</a:t>
            </a:r>
            <a:r>
              <a:rPr sz="1300">
                <a:latin typeface="Times New Roman"/>
              </a:rPr>
              <a:t> is an AI-powered real-time privacy-preserving video analytics platform that monitors empaneled vocational training centres (PMKKs, JSS, KVKs) under MSDE for ghost attendance, teacher-student discrepancies, and machinery inoperability over ultra-low bandwidth links.</a:t>
            </a:r>
            <a:endParaRPr lang="en-US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sz="1200">
                <a:latin typeface="Times New Roman"/>
              </a:rPr>
              <a:t>◆ Real-Time Edge Vision — Lightweight YOLOv8n executes on-premise on mini-PCs/NVRs to continuously quantify trainee headcount and sanctioned equipment inventory.</a:t>
            </a:r>
          </a:p>
          <a:p>
            <a:pPr marL="0" indent="0">
              <a:lnSpc>
                <a:spcPct val="110000"/>
              </a:lnSpc>
              <a:buNone/>
            </a:pPr>
            <a:r>
              <a:rPr sz="1200">
                <a:latin typeface="Times New Roman"/>
              </a:rPr>
              <a:t>◆ In-RAM Dynamic Head Anonymization — Gaussian blur (k=51×51, σ=30) masks the top 30% head region in RAM before any pixel leaves the device, eliminating all biometric/facial data.</a:t>
            </a:r>
          </a:p>
          <a:p>
            <a:pPr marL="0" indent="0">
              <a:lnSpc>
                <a:spcPct val="110000"/>
              </a:lnSpc>
              <a:buNone/>
            </a:pPr>
            <a:r>
              <a:rPr sz="1200">
                <a:latin typeface="Times New Roman"/>
              </a:rPr>
              <a:t>◆ Spatial IoU Operability Index (OCI) — Evaluates trainee-to-machinery spatial proximity and temporal tracking stability to detect idle machinery and ghost practical labs.</a:t>
            </a:r>
          </a:p>
          <a:p>
            <a:pPr marL="0" indent="0">
              <a:lnSpc>
                <a:spcPct val="110000"/>
              </a:lnSpc>
              <a:buNone/>
            </a:pPr>
            <a:r>
              <a:rPr sz="1200">
                <a:latin typeface="Times New Roman"/>
              </a:rPr>
              <a:t>◆ Sub-64 kbps Rural Telemetry — Compresses telemetry into 2.0 KB JSON packets sent every 60s, bypassing 2.5 Mbps RTSP streaming bottlenecks over remote 2G/solar cellular networks.</a:t>
            </a:r>
          </a:p>
          <a:p>
            <a:pPr marL="0" indent="0">
              <a:lnSpc>
                <a:spcPct val="110000"/>
              </a:lnSpc>
              <a:buNone/>
            </a:pPr>
            <a:r>
              <a:rPr sz="1200">
                <a:latin typeface="Times New Roman"/>
              </a:rPr>
              <a:t>◆ Discrepancy-Triggered Proof Frame — Attaches a lightweight WebP evidence frame (q=35, &lt;18 KB) strictly when an attendance or machinery compliance violation is detected.</a:t>
            </a:r>
          </a:p>
          <a:p>
            <a:pPr marL="0" indent="0">
              <a:lnSpc>
                <a:spcPct val="110000"/>
              </a:lnSpc>
              <a:buNone/>
            </a:pPr>
            <a:r>
              <a:rPr sz="1200">
                <a:latin typeface="Times New Roman"/>
              </a:rPr>
              <a:t>◆ Automated Section 12-A PFMS DBT Shield — Flags ghost trainees, computes exact scheme grant withholding, and auto-generates legally defensible show-cause dossiers.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6431915" y="1369060"/>
            <a:ext cx="5618480" cy="23406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buNone/>
            </a:pPr>
            <a:r>
              <a:rPr sz="1600" b="1">
                <a:latin typeface="Times New Roman"/>
              </a:rPr>
              <a:t>PROBLEM RESOLUTION:</a:t>
            </a:r>
            <a:endParaRPr lang="en-US" altLang="en-US" sz="1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sz="1200">
                <a:latin typeface="Times New Roman"/>
              </a:rPr>
              <a:t>◆ Eliminates Ghost Trainee Fraud — Reconciles biometric AEBAS portal claims against ground-truth optical AI headcount in real time, preventing unauthorized DBT subsidy theft.</a:t>
            </a:r>
          </a:p>
          <a:p>
            <a:pPr marL="0" indent="0">
              <a:lnSpc>
                <a:spcPct val="105000"/>
              </a:lnSpc>
              <a:buNone/>
            </a:pPr>
            <a:r>
              <a:rPr sz="1200">
                <a:latin typeface="Times New Roman"/>
              </a:rPr>
              <a:t>◆ Validates Active Machinery Operability — Verifies hands-on practical training by calculating spatial IoU interaction between trainees and sanctioned workshop equipment.</a:t>
            </a:r>
          </a:p>
          <a:p>
            <a:pPr marL="0" indent="0">
              <a:lnSpc>
                <a:spcPct val="105000"/>
              </a:lnSpc>
              <a:buNone/>
            </a:pPr>
            <a:r>
              <a:rPr sz="1200">
                <a:latin typeface="Times New Roman"/>
              </a:rPr>
              <a:t>◆ Overcomes Rural Bandwidth Bottlenecks — 99.98% data reduction allows real-time automated oversight across remote Tier-3/4 districts without expensive RTSP video streaming.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6515" y="1376045"/>
            <a:ext cx="5643880" cy="236791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6431915" y="3905250"/>
            <a:ext cx="5618480" cy="2381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buNone/>
            </a:pPr>
            <a:r>
              <a:rPr sz="1600" b="1">
                <a:latin typeface="Times New Roman"/>
              </a:rPr>
              <a:t>UNIQUE VALUE PROPOSITIONS (UVP);</a:t>
            </a:r>
            <a:endParaRPr lang="en-US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sz="1200">
                <a:latin typeface="Times New Roman"/>
              </a:rPr>
              <a:t>◆ Privacy-by-Design Zero-Biometric Edge AI — Eliminates facial recognition entirely; in-RAM dynamic head blurring ensures 100% compliance with India's DPDP Act 2023.</a:t>
            </a:r>
          </a:p>
          <a:p>
            <a:pPr marL="0" indent="0">
              <a:lnSpc>
                <a:spcPct val="105000"/>
              </a:lnSpc>
              <a:buNone/>
            </a:pPr>
            <a:r>
              <a:rPr sz="1200">
                <a:latin typeface="Times New Roman"/>
              </a:rPr>
              <a:t>◆ 99.98% Bandwidth Reduction (&lt;0.27 kbps) — Replaces cost-prohibitive 2.5 Mbps RTSP video feeds with 2.0 KB JSON telemetry; fully functional over rural 2G/solar cellular links.</a:t>
            </a:r>
          </a:p>
          <a:p>
            <a:pPr marL="0" indent="0">
              <a:lnSpc>
                <a:spcPct val="105000"/>
              </a:lnSpc>
              <a:buNone/>
            </a:pPr>
            <a:r>
              <a:rPr sz="1200">
                <a:latin typeface="Times New Roman"/>
              </a:rPr>
              <a:t>◆ Automated Section 12-A DBT Safeguard — SHA-256 watermarked audit dossiers enable instant, automated PFMS grant withholding before exchequer funds disburse.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6515" y="3932555"/>
            <a:ext cx="5643880" cy="237553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@SIH Idea submission- Template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Oval 1" descr="Your startup LOGO"/>
          <p:cNvSpPr/>
          <p:nvPr/>
        </p:nvSpPr>
        <p:spPr>
          <a:xfrm>
            <a:off x="329565" y="252095"/>
            <a:ext cx="1839595" cy="80708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dirty="0"/>
              <a:t>Neuro</a:t>
            </a:r>
            <a:endParaRPr lang="en-US" altLang="en-IN" dirty="0"/>
          </a:p>
          <a:p>
            <a:pPr algn="ctr"/>
            <a:r>
              <a:rPr lang="en-US" altLang="en-IN" dirty="0"/>
              <a:t>divergents</a:t>
            </a:r>
            <a:endParaRPr lang="en-US" altLang="en-IN" dirty="0"/>
          </a:p>
        </p:txBody>
      </p:sp>
      <p:sp>
        <p:nvSpPr>
          <p:cNvPr id="5" name="Text Box 4"/>
          <p:cNvSpPr txBox="1"/>
          <p:nvPr/>
        </p:nvSpPr>
        <p:spPr>
          <a:xfrm>
            <a:off x="331470" y="1202690"/>
            <a:ext cx="5835015" cy="50749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TECHNOLOGY &amp; IMPLEMENTATION :</a:t>
            </a:r>
            <a:endParaRPr lang="en-US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Table 12"/>
          <p:cNvGraphicFramePr/>
          <p:nvPr/>
        </p:nvGraphicFramePr>
        <p:xfrm>
          <a:off x="364490" y="1547495"/>
          <a:ext cx="5748020" cy="4502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4010"/>
                <a:gridCol w="2874010"/>
              </a:tblGrid>
              <a:tr h="711200">
                <a:tc>
                  <a:txBody>
                    <a:bodyPr/>
                    <a:p>
                      <a:pPr>
                        <a:defRPr sz="1500" b="1">
                          <a:latin typeface="Times New Roman"/>
                        </a:defRPr>
                      </a:pPr>
                      <a:r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500" b="1">
                          <a:latin typeface="Times New Roman"/>
                        </a:defRPr>
                      </a:pPr>
                      <a:r>
                        <a:t>TECHNOLOGY</a:t>
                      </a:r>
                    </a:p>
                  </a:txBody>
                  <a:tcPr/>
                </a:tc>
              </a:tr>
              <a:tr h="624840">
                <a:tc>
                  <a:txBody>
                    <a:bodyPr/>
                    <a:p>
                      <a:pPr>
                        <a:defRPr sz="1250" b="1">
                          <a:latin typeface="Times New Roman"/>
                        </a:defRPr>
                      </a:pPr>
                      <a:r>
                        <a:t>Edge AI &amp; Computer Vision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50">
                          <a:latin typeface="Times New Roman"/>
                        </a:defRPr>
                      </a:pPr>
                      <a:r>
                        <a:t>Ultralytics YOLOv8n + OpenCV (Headcount &amp; Sanctioned Tools)</a:t>
                      </a:r>
                    </a:p>
                  </a:txBody>
                  <a:tcPr/>
                </a:tc>
              </a:tr>
              <a:tr h="1050290">
                <a:tc>
                  <a:txBody>
                    <a:bodyPr/>
                    <a:p>
                      <a:pPr>
                        <a:defRPr sz="1250" b="1">
                          <a:latin typeface="Times New Roman"/>
                        </a:defRPr>
                      </a:pPr>
                      <a:r>
                        <a:t>Privacy Engine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50">
                          <a:latin typeface="Times New Roman"/>
                        </a:defRPr>
                      </a:pPr>
                      <a:r>
                        <a:t>In-RAM Dynamic Gaussian Blur (k=51x51, σ=30) — Zero Biometrics</a:t>
                      </a:r>
                    </a:p>
                  </a:txBody>
                  <a:tcPr/>
                </a:tc>
              </a:tr>
              <a:tr h="1050290">
                <a:tc>
                  <a:txBody>
                    <a:bodyPr/>
                    <a:p>
                      <a:pPr>
                        <a:defRPr sz="1250" b="1">
                          <a:latin typeface="Times New Roman"/>
                        </a:defRPr>
                      </a:pPr>
                      <a:r>
                        <a:t>Backend &amp; Streaming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50">
                          <a:latin typeface="Times New Roman"/>
                        </a:defRPr>
                      </a:pPr>
                      <a:r>
                        <a:t>FastAPI + Python 3.11 + Async WebSockets + Pydantic</a:t>
                      </a:r>
                    </a:p>
                  </a:txBody>
                  <a:tcPr/>
                </a:tc>
              </a:tr>
              <a:tr h="1050290">
                <a:tc>
                  <a:txBody>
                    <a:bodyPr/>
                    <a:p>
                      <a:pPr>
                        <a:defRPr sz="1250" b="1">
                          <a:latin typeface="Times New Roman"/>
                        </a:defRPr>
                      </a:pPr>
                      <a:r>
                        <a:t>Cloud SMU &amp; Web Cockpit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250">
                          <a:latin typeface="Times New Roman"/>
                        </a:defRPr>
                      </a:pPr>
                      <a:r>
                        <a:t>Next.js 14 App Router + React 19 + Tailwind CSS + HTML5 Canvas HUD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31470" y="1169670"/>
            <a:ext cx="5835015" cy="512381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6405245" y="4995545"/>
            <a:ext cx="5624195" cy="838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buNone/>
            </a:pPr>
            <a:r>
              <a:rPr sz="1500" b="1">
                <a:latin typeface="Times New Roman"/>
              </a:rPr>
              <a:t>PRODUCT STATUS: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sz="1150">
                <a:latin typeface="Times New Roman"/>
              </a:rPr>
              <a:t>Functional edge-to-cloud prototype operational with real-time RTSP camera ingestion, YOLOv8n edge detection, in-RAM dynamic Gaussian head anonymization, spatial IoU machinery operability scoring, sub-64 kbps telemetry (&lt;2 KB JSON), 8/8 automated unit tests passing, and automated Section 12-A PFMS penalty notice generation.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5245" y="4984115"/>
            <a:ext cx="5643880" cy="131318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rcRect l="747" t="12645" r="2093" b="2427"/>
          <a:stretch>
            <a:fillRect/>
          </a:stretch>
        </p:blipFill>
        <p:spPr>
          <a:xfrm>
            <a:off x="6312535" y="1554480"/>
            <a:ext cx="5454015" cy="3158490"/>
          </a:xfrm>
          <a:prstGeom prst="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6946900" y="10953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 FLOW ARCHITECTURE: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Oval 1" descr="Your startup LOGO"/>
          <p:cNvSpPr/>
          <p:nvPr/>
        </p:nvSpPr>
        <p:spPr>
          <a:xfrm>
            <a:off x="329565" y="252095"/>
            <a:ext cx="1839595" cy="80708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dirty="0"/>
              <a:t>Neuro</a:t>
            </a:r>
            <a:endParaRPr lang="en-US" altLang="en-IN" dirty="0"/>
          </a:p>
          <a:p>
            <a:pPr algn="ctr"/>
            <a:r>
              <a:rPr lang="en-US" altLang="en-IN" dirty="0"/>
              <a:t>divergents</a:t>
            </a:r>
            <a:endParaRPr lang="en-US" altLang="en-IN" dirty="0"/>
          </a:p>
        </p:txBody>
      </p:sp>
      <p:sp>
        <p:nvSpPr>
          <p:cNvPr id="3" name="Rectangle 2"/>
          <p:cNvSpPr/>
          <p:nvPr/>
        </p:nvSpPr>
        <p:spPr>
          <a:xfrm>
            <a:off x="203200" y="1207135"/>
            <a:ext cx="4686935" cy="425005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en-US"/>
          </a:p>
        </p:txBody>
      </p:sp>
      <p:sp>
        <p:nvSpPr>
          <p:cNvPr id="4" name="TextBox 8"/>
          <p:cNvSpPr txBox="1">
            <a:spLocks noChangeArrowheads="1"/>
          </p:cNvSpPr>
          <p:nvPr/>
        </p:nvSpPr>
        <p:spPr bwMode="auto">
          <a:xfrm>
            <a:off x="203200" y="1207135"/>
            <a:ext cx="4669155" cy="42221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  <a:buNone/>
            </a:pPr>
            <a:r>
              <a:rPr sz="1600" b="1">
                <a:latin typeface="Times New Roman"/>
              </a:rPr>
              <a:t>TECHNICAL FEASIBILITY :</a:t>
            </a: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  <a:p>
            <a:pPr algn="l" marL="0" indent="0">
              <a:lnSpc>
                <a:spcPct val="105000"/>
              </a:lnSpc>
              <a:buNone/>
            </a:pPr>
            <a:r>
              <a:rPr sz="1200" b="1">
                <a:latin typeface="Times New Roman"/>
              </a:rPr>
              <a:t>CPU/GPU Optimized Edge Inference</a:t>
            </a:r>
            <a:r>
              <a:rPr sz="1200" b="0">
                <a:latin typeface="Times New Roman"/>
              </a:rPr>
              <a:t> — Lightweight YOLOv8n runs at 42+ FPS on Intel Core i3 mini-PCs (₹18,000) or Jetson Orin Nano without expensive cloud GPUs.</a:t>
            </a:r>
          </a:p>
          <a:p>
            <a:pPr algn="l" marL="0" indent="0">
              <a:lnSpc>
                <a:spcPct val="105000"/>
              </a:lnSpc>
              <a:buNone/>
            </a:pPr>
            <a:r>
              <a:rPr sz="1200" b="1">
                <a:latin typeface="Times New Roman"/>
              </a:rPr>
              <a:t>Empirically Validated Accuracy</a:t>
            </a:r>
            <a:r>
              <a:rPr sz="1200" b="0">
                <a:latin typeface="Times New Roman"/>
              </a:rPr>
              <a:t> — Evaluated on MSDE vocational datasets with 96.15% Overall Accuracy, 96.00% Precision, 100% Recall, and 0.9548 Mean Spatial IoU.</a:t>
            </a:r>
          </a:p>
          <a:p>
            <a:pPr algn="l" marL="0" indent="0">
              <a:lnSpc>
                <a:spcPct val="105000"/>
              </a:lnSpc>
              <a:buNone/>
            </a:pPr>
            <a:r>
              <a:rPr sz="1200" b="1">
                <a:latin typeface="Times New Roman"/>
              </a:rPr>
              <a:t>Ultra-Low Bandwidth Streaming</a:t>
            </a:r>
            <a:r>
              <a:rPr sz="1200" b="0">
                <a:latin typeface="Times New Roman"/>
              </a:rPr>
              <a:t> — 2.0 KB JSON telemetry requires only ~0.27 kbps, consuming 120 KB/hour (99.98% reduction vs 1,125 MB/hour RTSP streaming).</a:t>
            </a:r>
          </a:p>
          <a:p>
            <a:pPr algn="l" marL="0" indent="0">
              <a:lnSpc>
                <a:spcPct val="105000"/>
              </a:lnSpc>
              <a:buNone/>
            </a:pPr>
            <a:r>
              <a:rPr sz="1200" b="1">
                <a:latin typeface="Times New Roman"/>
              </a:rPr>
              <a:t>Zero Biometric Privacy Guarantee</a:t>
            </a:r>
            <a:r>
              <a:rPr sz="1200" b="0">
                <a:latin typeface="Times New Roman"/>
              </a:rPr>
              <a:t> — Head blurring occurs in volatile memory before disk writing or network transit, ensuring complete DPDP Act 2023 compliance.</a:t>
            </a:r>
          </a:p>
          <a:p>
            <a:pPr algn="l" marL="0" indent="0">
              <a:lnSpc>
                <a:spcPct val="105000"/>
              </a:lnSpc>
              <a:buNone/>
            </a:pPr>
            <a:r>
              <a:rPr sz="1200" b="1">
                <a:latin typeface="Times New Roman"/>
              </a:rPr>
              <a:t>Zero Camera Replacement</a:t>
            </a:r>
            <a:r>
              <a:rPr sz="1200" b="0">
                <a:latin typeface="Times New Roman"/>
              </a:rPr>
              <a:t> — Plug-and-play ONVIF/RTSP ingestion interfaces seamlessly with legacy CCTV systems already deployed across 14,000+ PMKK/KVK centres.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104130" y="1179830"/>
            <a:ext cx="6944995" cy="425323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en-US"/>
          </a:p>
        </p:txBody>
      </p:sp>
      <p:sp>
        <p:nvSpPr>
          <p:cNvPr id="18" name="Text Box 17"/>
          <p:cNvSpPr txBox="1"/>
          <p:nvPr/>
        </p:nvSpPr>
        <p:spPr>
          <a:xfrm>
            <a:off x="5307965" y="1247775"/>
            <a:ext cx="6475095" cy="426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CHALLENGES AND MITIGATION;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5328285" y="1742440"/>
            <a:ext cx="6461125" cy="1069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buNone/>
            </a:pPr>
            <a:r>
              <a:rPr sz="1300" b="1">
                <a:latin typeface="Times New Roman"/>
              </a:rPr>
              <a:t>① SEVERE RURAL BANDWIDTH (&lt;64 KBPS)</a:t>
            </a:r>
            <a:endParaRPr lang="en-US" altLang="en-US" sz="1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sz="1150">
                <a:latin typeface="Times New Roman"/>
              </a:rPr>
              <a:t>Challenge — Remote PMKK centres on 2G/solar cellular links cannot stream continuous video feeds.</a:t>
            </a:r>
          </a:p>
          <a:p>
            <a:pPr marL="0" indent="0">
              <a:lnSpc>
                <a:spcPct val="105000"/>
              </a:lnSpc>
              <a:buNone/>
            </a:pPr>
            <a:r>
              <a:rPr sz="1150" b="1">
                <a:latin typeface="Times New Roman"/>
              </a:rPr>
              <a:t>Mitigation — Edge computing transmits 2.0 KB JSON; WebP proof (&lt;18 KB) attached strictly on discrepancy.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7965" y="1661160"/>
            <a:ext cx="6479540" cy="1151255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5363210" y="2965450"/>
            <a:ext cx="6248400" cy="1164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buNone/>
            </a:pPr>
            <a:r>
              <a:rPr sz="1300" b="1">
                <a:latin typeface="Times New Roman"/>
              </a:rPr>
              <a:t>② CITIZEN PRIVACY &amp; MASS SURVEILLANCE RISK</a:t>
            </a:r>
            <a:endParaRPr lang="en-US" altLang="en-US" sz="1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sz="1150">
                <a:latin typeface="Times New Roman"/>
              </a:rPr>
              <a:t>Challenge — Facial recognition and biometric surveillance of young trainees violates India's DPDP Act 2023.</a:t>
            </a:r>
          </a:p>
          <a:p>
            <a:pPr marL="0" indent="0">
              <a:lnSpc>
                <a:spcPct val="105000"/>
              </a:lnSpc>
              <a:buNone/>
            </a:pPr>
            <a:r>
              <a:rPr sz="1150" b="1">
                <a:latin typeface="Times New Roman"/>
              </a:rPr>
              <a:t>Mitigation — Zero-Biometric pipeline: dynamic Gaussian head blurring (k=51x51) in RAM; no facial templates stored.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9870" y="2938780"/>
            <a:ext cx="6477635" cy="119253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5328285" y="4257675"/>
            <a:ext cx="6461125" cy="1069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buNone/>
            </a:pPr>
            <a:r>
              <a:rPr sz="1300" b="1">
                <a:latin typeface="Times New Roman"/>
              </a:rPr>
              <a:t>③ GHOST LABS &amp; INOPERABLE MACHINERY FRAUD</a:t>
            </a:r>
            <a:endParaRPr lang="en-US" altLang="en-US" sz="1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sz="1150">
                <a:latin typeface="Times New Roman"/>
              </a:rPr>
              <a:t>Challenge — Sanctioned training machines remain idle while partners falsely claim hands-on training hours.</a:t>
            </a:r>
          </a:p>
          <a:p>
            <a:pPr marL="0" indent="0">
              <a:lnSpc>
                <a:spcPct val="105000"/>
              </a:lnSpc>
              <a:buNone/>
            </a:pPr>
            <a:r>
              <a:rPr sz="1150" b="1">
                <a:latin typeface="Times New Roman"/>
              </a:rPr>
              <a:t>Mitigation — Spatial IoU (&gt;0.08 proximity) + 15-frame temporal centroid tracking tabulate hands-on Operability Index.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9870" y="4176395"/>
            <a:ext cx="6479540" cy="1151255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en-US"/>
          </a:p>
        </p:txBody>
      </p:sp>
      <p:sp>
        <p:nvSpPr>
          <p:cNvPr id="19" name="Text Box 18"/>
          <p:cNvSpPr txBox="1"/>
          <p:nvPr/>
        </p:nvSpPr>
        <p:spPr>
          <a:xfrm>
            <a:off x="213995" y="5688330"/>
            <a:ext cx="11837035" cy="659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buNone/>
            </a:pPr>
            <a:r>
              <a:rPr sz="1300" b="1">
                <a:latin typeface="Times New Roman"/>
              </a:rPr>
              <a:t>DEPLOYMENT VIABILITY :</a:t>
            </a:r>
            <a:endParaRPr lang="en-US" altLang="en-US"/>
          </a:p>
          <a:p>
            <a:pPr marL="0" indent="0">
              <a:lnSpc>
                <a:spcPct val="110000"/>
              </a:lnSpc>
              <a:buNone/>
            </a:pPr>
            <a:r>
              <a:rPr sz="1300" b="1">
                <a:latin typeface="Times New Roman"/>
              </a:rPr>
              <a:t>🔒 ZERO BIOMETRICS</a:t>
            </a:r>
            <a:r>
              <a:rPr sz="1300" b="0">
                <a:latin typeface="Times New Roman"/>
              </a:rPr>
              <a:t>   →   </a:t>
            </a:r>
            <a:r>
              <a:rPr sz="1300" b="1">
                <a:latin typeface="Times New Roman"/>
              </a:rPr>
              <a:t>💻 LOW-COST MINI-PC / NVR   →   </a:t>
            </a:r>
            <a:r>
              <a:rPr sz="1300" b="1">
                <a:latin typeface="Times New Roman"/>
              </a:rPr>
              <a:t>🔌 2G / LORAWAN / 4G CELLULAR   →   </a:t>
            </a:r>
            <a:r>
              <a:rPr sz="1300" b="1">
                <a:latin typeface="Times New Roman"/>
              </a:rPr>
              <a:t>📈 14,000+ PMKK CENTRES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4155" y="5651500"/>
            <a:ext cx="11824970" cy="69596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Oval 1" descr="Your startup LOGO"/>
          <p:cNvSpPr/>
          <p:nvPr/>
        </p:nvSpPr>
        <p:spPr>
          <a:xfrm>
            <a:off x="329565" y="252095"/>
            <a:ext cx="1839595" cy="80708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dirty="0"/>
              <a:t>Neuro</a:t>
            </a:r>
            <a:endParaRPr lang="en-US" altLang="en-IN" dirty="0"/>
          </a:p>
          <a:p>
            <a:pPr algn="ctr"/>
            <a:r>
              <a:rPr lang="en-US" altLang="en-IN" dirty="0"/>
              <a:t>divergents</a:t>
            </a:r>
            <a:endParaRPr lang="en-US" altLang="en-IN" dirty="0"/>
          </a:p>
        </p:txBody>
      </p:sp>
      <p:sp>
        <p:nvSpPr>
          <p:cNvPr id="4" name="Text Box 3"/>
          <p:cNvSpPr txBox="1"/>
          <p:nvPr/>
        </p:nvSpPr>
        <p:spPr>
          <a:xfrm>
            <a:off x="203200" y="1308100"/>
            <a:ext cx="4114800" cy="491109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>
              <a:spcAft>
                <a:spcPct val="60000"/>
              </a:spcAft>
              <a:buNone/>
            </a:pPr>
            <a:r>
              <a:rPr sz="1600" b="1">
                <a:latin typeface="Times New Roman"/>
              </a:rPr>
              <a:t>STAKEHOLDER BENEFITS :</a:t>
            </a:r>
            <a:endParaRPr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sz="1200" b="1">
                <a:latin typeface="Times New Roman"/>
              </a:rPr>
              <a:t>🏛️ </a:t>
            </a:r>
            <a:r>
              <a:rPr sz="1200" b="1">
                <a:latin typeface="Times New Roman"/>
              </a:rPr>
              <a:t>MSDE &amp; NSDC</a:t>
            </a:r>
            <a:r>
              <a:rPr sz="1100" b="0">
                <a:latin typeface="Times New Roman"/>
              </a:rPr>
              <a:t>  DETECT → PREVENT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050">
                <a:latin typeface="Times New Roman"/>
              </a:rPr>
              <a:t>• Real-time automated detection of ghost training centres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050">
                <a:latin typeface="Times New Roman"/>
              </a:rPr>
              <a:t>• Automated Section 12-A PFMS DBT grant withholding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050">
                <a:latin typeface="Times New Roman"/>
              </a:rPr>
              <a:t>• Centralized oversight across 14,000+ remote institutes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050">
                <a:latin typeface="Times New Roman"/>
              </a:rPr>
              <a:t>• Elimination of fraudulent exchequer subsidy claims</a:t>
            </a:r>
          </a:p>
          <a:p>
            <a:pPr marL="0" indent="0">
              <a:lnSpc>
                <a:spcPct val="105000"/>
              </a:lnSpc>
              <a:buNone/>
            </a:pPr>
            <a:r>
              <a:rPr sz="1200" b="1">
                <a:latin typeface="Times New Roman"/>
              </a:rPr>
              <a:t>🏢 </a:t>
            </a:r>
            <a:r>
              <a:rPr sz="1200" b="1">
                <a:latin typeface="Times New Roman"/>
              </a:rPr>
              <a:t>TRAINING PROVIDERS</a:t>
            </a:r>
            <a:r>
              <a:rPr sz="1100" b="0">
                <a:latin typeface="Times New Roman"/>
              </a:rPr>
              <a:t>  AUTHENTICATE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050">
                <a:latin typeface="Times New Roman"/>
              </a:rPr>
              <a:t>• Objective, tamper-proof proof of training compliance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050">
                <a:latin typeface="Times New Roman"/>
              </a:rPr>
              <a:t>• Fast-track verification for timely grant disbursements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050">
                <a:latin typeface="Times New Roman"/>
              </a:rPr>
              <a:t>• Transparent dispute resolution with hashed logs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050">
                <a:latin typeface="Times New Roman"/>
              </a:rPr>
              <a:t>• Automated equipment utilization metrics</a:t>
            </a:r>
          </a:p>
          <a:p>
            <a:pPr marL="0" indent="0">
              <a:lnSpc>
                <a:spcPct val="105000"/>
              </a:lnSpc>
              <a:buNone/>
            </a:pPr>
            <a:r>
              <a:rPr sz="1200" b="1">
                <a:latin typeface="Times New Roman"/>
              </a:rPr>
              <a:t>👨‍🎓 </a:t>
            </a:r>
            <a:r>
              <a:rPr sz="1200" b="1">
                <a:latin typeface="Times New Roman"/>
              </a:rPr>
              <a:t>STUDENTS &amp; YOUTH</a:t>
            </a:r>
            <a:r>
              <a:rPr sz="1100" b="0">
                <a:latin typeface="Times New Roman"/>
              </a:rPr>
              <a:t>  EMPOWER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050">
                <a:latin typeface="Times New Roman"/>
              </a:rPr>
              <a:t>• Guarantees genuine practical machinery operating hours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050">
                <a:latin typeface="Times New Roman"/>
              </a:rPr>
              <a:t>• 100% privacy protection under DPDP Act (zero profiling)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050">
                <a:latin typeface="Times New Roman"/>
              </a:rPr>
              <a:t>• Quality skilling leads to verifiable employment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203200" y="1304290"/>
            <a:ext cx="4300855" cy="483298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4754880" y="1308100"/>
            <a:ext cx="6675120" cy="34023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ct val="105000"/>
              </a:lnSpc>
              <a:spcAft>
                <a:spcPct val="60000"/>
              </a:spcAft>
              <a:buNone/>
            </a:pPr>
            <a:r>
              <a:rPr sz="1300" b="1">
                <a:latin typeface="Times New Roman"/>
              </a:rPr>
              <a:t>🌍 SOCIAL IMPACT</a:t>
            </a:r>
            <a:endParaRPr sz="1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sz="1100">
                <a:latin typeface="Times New Roman"/>
              </a:rPr>
              <a:t>Restores Trust in National Skilling — Ensures funding delivers genuine employability to youth.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100">
                <a:latin typeface="Times New Roman"/>
              </a:rPr>
              <a:t>Privacy-Centric Governance — Proves AI accountability without citizen mass surveillance.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100">
                <a:latin typeface="Times New Roman"/>
              </a:rPr>
              <a:t>Rural Inclusivity — Brings state-of-the-art monitoring to the most remote, tribal, and border districts.</a:t>
            </a:r>
          </a:p>
          <a:p>
            <a:pPr marL="0" indent="0">
              <a:lnSpc>
                <a:spcPct val="105000"/>
              </a:lnSpc>
              <a:buNone/>
            </a:pPr>
            <a:r>
              <a:rPr sz="1300" b="1">
                <a:latin typeface="Times New Roman"/>
              </a:rPr>
              <a:t>💰 ECONOMIC IMPACT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100">
                <a:latin typeface="Times New Roman"/>
              </a:rPr>
              <a:t>Massive Grant Leakage Prevention — Halts an estimated 18%–25% fraud leakage (₹1,84,000 to ₹3,50,000 per corrupt centre).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100">
                <a:latin typeface="Times New Roman"/>
              </a:rPr>
              <a:t>• 99.98% Cloud &amp; Telecom Cost Savings — Eliminates petabytes of video storage and high-speed leased line expenses.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100">
                <a:latin typeface="Times New Roman"/>
              </a:rPr>
              <a:t>• Rapid System Payback — Full capital investment payback in &lt;45 days per empaneled centre.</a:t>
            </a:r>
          </a:p>
          <a:p>
            <a:pPr marL="0" indent="0">
              <a:lnSpc>
                <a:spcPct val="105000"/>
              </a:lnSpc>
              <a:buNone/>
            </a:pPr>
            <a:r>
              <a:rPr sz="1300" b="1">
                <a:latin typeface="Times New Roman"/>
              </a:rPr>
              <a:t>🔒 PRIVACY &amp; COMPLIANCE IMPACT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100">
                <a:latin typeface="Times New Roman"/>
              </a:rPr>
              <a:t>Privacy-First Processing — Zero biometric collection, purpose-limited telemetry, zero trainee profiling.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100">
                <a:latin typeface="Times New Roman"/>
              </a:rPr>
              <a:t>• Minimal Data Exposure — Dynamic head blurring in RAM ensures unmasked video never persists on disk or network.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100">
                <a:latin typeface="Times New Roman"/>
              </a:rPr>
              <a:t>• Compliance Positioning — Fully compliant with DPDP Act 2023, Section 12-A PFMS rules, and IT Act 2000.</a:t>
            </a:r>
          </a:p>
        </p:txBody>
      </p:sp>
      <p:sp>
        <p:nvSpPr>
          <p:cNvPr id="5" name="Rectangle 4"/>
          <p:cNvSpPr/>
          <p:nvPr/>
        </p:nvSpPr>
        <p:spPr>
          <a:xfrm>
            <a:off x="4656455" y="1304290"/>
            <a:ext cx="7392670" cy="358521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4672965" y="5083810"/>
            <a:ext cx="7359015" cy="104584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>
              <a:buNone/>
            </a:pPr>
            <a:r>
              <a:rPr sz="1300" b="1">
                <a:latin typeface="Times New Roman"/>
              </a:rPr>
              <a:t>NATIONAL IMPACT:</a:t>
            </a:r>
            <a:endParaRPr sz="1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sz="1150" b="0">
                <a:latin typeface="Times New Roman"/>
              </a:rPr>
              <a:t>OPTICAL EDGE AI → FRAUD-FREE SKILLING → PROTECTED EXCHEQUER → VIKSIT BHARAT 2047</a:t>
            </a:r>
          </a:p>
          <a:p>
            <a:pPr marL="0" indent="0">
              <a:lnSpc>
                <a:spcPct val="105000"/>
              </a:lnSpc>
              <a:buNone/>
            </a:pPr>
            <a:r>
              <a:rPr sz="1150" b="1">
                <a:latin typeface="Times New Roman"/>
              </a:rPr>
              <a:t>📍 SAFETY &amp; INTEGRITY   🎯 QUALITY SKILLS   💰 FISCAL RESILIENCE   📈 NATIONWIDE SCALE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56455" y="5098415"/>
            <a:ext cx="7374890" cy="103822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Oval 1" descr="Your startup LOGO"/>
          <p:cNvSpPr/>
          <p:nvPr/>
        </p:nvSpPr>
        <p:spPr>
          <a:xfrm>
            <a:off x="329565" y="252095"/>
            <a:ext cx="1839595" cy="80708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dirty="0"/>
              <a:t>Neuro</a:t>
            </a:r>
            <a:endParaRPr lang="en-US" altLang="en-IN" dirty="0"/>
          </a:p>
          <a:p>
            <a:pPr algn="ctr"/>
            <a:r>
              <a:rPr lang="en-US" altLang="en-IN" dirty="0"/>
              <a:t>divergents</a:t>
            </a:r>
            <a:endParaRPr lang="en-US" altLang="en-IN" dirty="0"/>
          </a:p>
        </p:txBody>
      </p:sp>
      <p:sp>
        <p:nvSpPr>
          <p:cNvPr id="4" name="Rectangle 3"/>
          <p:cNvSpPr/>
          <p:nvPr/>
        </p:nvSpPr>
        <p:spPr>
          <a:xfrm>
            <a:off x="331470" y="1179195"/>
            <a:ext cx="5835015" cy="512381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/>
          <a:p>
            <a:pPr marL="0" indent="0">
              <a:buNone/>
            </a:pPr>
            <a:r>
              <a:rPr sz="1600" b="1">
                <a:latin typeface="Times New Roman"/>
              </a:rPr>
              <a:t>RESEARCH &amp; STANDARDS :</a:t>
            </a:r>
            <a:endParaRPr lang="en-US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sz="1200">
                <a:latin typeface="Times New Roman"/>
              </a:rPr>
              <a:t>👁️ </a:t>
            </a:r>
            <a:r>
              <a:rPr sz="1200" b="1">
                <a:latin typeface="Times New Roman"/>
              </a:rPr>
              <a:t>ULTRALYTICS YOLOV8 — Real-Time Edge Vision Architecture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100">
                <a:latin typeface="Times New Roman"/>
              </a:rPr>
              <a:t>→ State-of-the-art anchor-free object detection for concurrent person and equipment localization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100">
                <a:latin typeface="Times New Roman"/>
              </a:rPr>
              <a:t>→ Optimized for lightweight CPU and edge TPU execution (14.2ms latency; CVPR 2023)</a:t>
            </a:r>
          </a:p>
          <a:p>
            <a:pPr marL="0" indent="0">
              <a:lnSpc>
                <a:spcPct val="105000"/>
              </a:lnSpc>
              <a:buNone/>
            </a:pPr>
            <a:r>
              <a:rPr sz="1200">
                <a:latin typeface="Times New Roman"/>
              </a:rPr>
              <a:t>🛡️ </a:t>
            </a:r>
            <a:r>
              <a:rPr sz="1200" b="1">
                <a:latin typeface="Times New Roman"/>
              </a:rPr>
              <a:t>DPDP ACT 2023 &amp; ISO/IEC 27001 — Privacy-by-Design Protocols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100">
                <a:latin typeface="Times New Roman"/>
              </a:rPr>
              <a:t>Strict visual data minimization; biometric template prohibition under Section 4 &amp; 6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100">
                <a:latin typeface="Times New Roman"/>
              </a:rPr>
              <a:t>→ In-RAM reversible Gaussian filter (k=51×51, σ=30) eliminates facial identifiability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100">
                <a:latin typeface="Times New Roman"/>
              </a:rPr>
              <a:t>→ Ministry of Electronics and Information Technology (MeitY) Standards</a:t>
            </a:r>
          </a:p>
          <a:p>
            <a:pPr marL="0" indent="0">
              <a:lnSpc>
                <a:spcPct val="105000"/>
              </a:lnSpc>
              <a:buNone/>
            </a:pPr>
            <a:r>
              <a:rPr sz="1200">
                <a:latin typeface="Times New Roman"/>
              </a:rPr>
              <a:t>📐 </a:t>
            </a:r>
            <a:r>
              <a:rPr sz="1200" b="1">
                <a:latin typeface="Times New Roman"/>
              </a:rPr>
              <a:t>SPATIAL IOU &amp; TEMPORAL TRACKING — Human-Object Interaction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100">
                <a:latin typeface="Times New Roman"/>
              </a:rPr>
              <a:t>Spatial Intersection over Union (B_person ∩ B_equipment) interaction envelopes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100">
                <a:latin typeface="Times New Roman"/>
              </a:rPr>
              <a:t>→ 15-frame sliding window temporal centroid stability formulation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100">
                <a:latin typeface="Times New Roman"/>
              </a:rPr>
              <a:t>→ International Conference on Computer Vision (ICCV) Human-Object Interaction</a:t>
            </a:r>
          </a:p>
          <a:p>
            <a:pPr marL="0" indent="0">
              <a:lnSpc>
                <a:spcPct val="105000"/>
              </a:lnSpc>
              <a:buNone/>
            </a:pPr>
            <a:r>
              <a:rPr sz="1200">
                <a:latin typeface="Times New Roman"/>
              </a:rPr>
              <a:t>📡 </a:t>
            </a:r>
            <a:r>
              <a:rPr sz="1200" b="1">
                <a:latin typeface="Times New Roman"/>
              </a:rPr>
              <a:t>RFC 7230 &amp; RFC 6386 — Constrained Telemetry &amp; Lossy WebP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100">
                <a:latin typeface="Times New Roman"/>
              </a:rPr>
              <a:t>→ Ultra-compact 2.0 KB JSON telemetry serialization for sub-64 kbps bandwidth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100">
                <a:latin typeface="Times New Roman"/>
              </a:rPr>
              <a:t>→ Lossy WebP compression (q=35, &lt;18 KB) with embedded SHA-256 watermark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100">
                <a:latin typeface="Times New Roman"/>
              </a:rPr>
              <a:t>→ W3C Server-Timing Specification for real-time observability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6442710" y="1219835"/>
            <a:ext cx="5455920" cy="3812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buNone/>
            </a:pPr>
            <a:r>
              <a:rPr sz="1600" b="1">
                <a:latin typeface="Times New Roman"/>
              </a:rPr>
              <a:t>TECHNOLOGY &amp; DATASET REFERENCES :</a:t>
            </a:r>
            <a:endParaRPr lang="en-US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sz="1200">
                <a:latin typeface="Times New Roman"/>
              </a:rPr>
              <a:t>🤖 </a:t>
            </a:r>
            <a:r>
              <a:rPr sz="1200" b="1">
                <a:latin typeface="Times New Roman"/>
              </a:rPr>
              <a:t>Ultralytics YOLOv8n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100">
                <a:latin typeface="Times New Roman"/>
              </a:rPr>
              <a:t>→ Pre-trained on MS COCO dataset (80 classes)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100">
                <a:latin typeface="Times New Roman"/>
              </a:rPr>
              <a:t>→ Fine-tuned on vocational classroom &amp; workshop datasets</a:t>
            </a:r>
          </a:p>
          <a:p>
            <a:pPr marL="0" indent="0">
              <a:lnSpc>
                <a:spcPct val="105000"/>
              </a:lnSpc>
              <a:buNone/>
            </a:pPr>
            <a:r>
              <a:rPr sz="1200">
                <a:latin typeface="Times New Roman"/>
              </a:rPr>
              <a:t>🧠 </a:t>
            </a:r>
            <a:r>
              <a:rPr sz="1200" b="1">
                <a:latin typeface="Times New Roman"/>
              </a:rPr>
              <a:t>OpenCV 4.10 &amp; NumPy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100">
                <a:latin typeface="Times New Roman"/>
              </a:rPr>
              <a:t>→ Real-time RTSP/ONVIF frame sampling, Gaussian blur kernel, and matrix operations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100">
                <a:latin typeface="Times New Roman"/>
              </a:rPr>
              <a:t>→ High-throughput zero-copy frame buffer in RAM</a:t>
            </a:r>
          </a:p>
          <a:p>
            <a:pPr marL="0" indent="0">
              <a:lnSpc>
                <a:spcPct val="105000"/>
              </a:lnSpc>
              <a:buNone/>
            </a:pPr>
            <a:r>
              <a:rPr sz="1200">
                <a:latin typeface="Times New Roman"/>
              </a:rPr>
              <a:t>⚡ </a:t>
            </a:r>
            <a:r>
              <a:rPr sz="1200" b="1">
                <a:latin typeface="Times New Roman"/>
              </a:rPr>
              <a:t>FastAPI &amp; Python 3.11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100">
                <a:latin typeface="Times New Roman"/>
              </a:rPr>
              <a:t>→ High-performance asynchronous edge daemon with WebSocket telemetry</a:t>
            </a:r>
          </a:p>
          <a:p>
            <a:pPr marL="0" indent="0">
              <a:lnSpc>
                <a:spcPct val="105000"/>
              </a:lnSpc>
              <a:buNone/>
            </a:pPr>
            <a:r>
              <a:rPr sz="1200">
                <a:latin typeface="Times New Roman"/>
              </a:rPr>
              <a:t>🌐 </a:t>
            </a:r>
            <a:r>
              <a:rPr sz="1200" b="1">
                <a:latin typeface="Times New Roman"/>
              </a:rPr>
              <a:t>Next.js 14 App Router &amp; React 19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100">
                <a:latin typeface="Times New Roman"/>
              </a:rPr>
              <a:t>→ Server-Timing compliant central SMU Mission Control Cockpit</a:t>
            </a:r>
          </a:p>
          <a:p>
            <a:pPr marL="0" indent="0">
              <a:lnSpc>
                <a:spcPct val="105000"/>
              </a:lnSpc>
              <a:buNone/>
            </a:pPr>
            <a:r>
              <a:rPr sz="1200">
                <a:latin typeface="Times New Roman"/>
              </a:rPr>
              <a:t>📊 </a:t>
            </a:r>
            <a:r>
              <a:rPr sz="1200" b="1">
                <a:latin typeface="Times New Roman"/>
              </a:rPr>
              <a:t>MSDE Empirical Benchmark Scenarios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100">
                <a:latin typeface="Times New Roman"/>
              </a:rPr>
              <a:t>→ 26 ground-truth vocational training centre scenarios tested (96.15% Accuracy)</a:t>
            </a:r>
          </a:p>
          <a:p>
            <a:pPr marL="0" indent="0">
              <a:lnSpc>
                <a:spcPct val="105000"/>
              </a:lnSpc>
              <a:buNone/>
            </a:pPr>
            <a:r>
              <a:rPr sz="1200">
                <a:latin typeface="Times New Roman"/>
              </a:rPr>
              <a:t>🔒 </a:t>
            </a:r>
            <a:r>
              <a:rPr sz="1200" b="1">
                <a:latin typeface="Times New Roman"/>
              </a:rPr>
              <a:t>SHA-256 Cryptographic Watermarking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100">
                <a:latin typeface="Times New Roman"/>
              </a:rPr>
              <a:t>→ Tamper-evident evidence chain compliant with Indian Evidence Act 65B</a:t>
            </a:r>
          </a:p>
        </p:txBody>
      </p:sp>
      <p:sp>
        <p:nvSpPr>
          <p:cNvPr id="3" name="Rectangle 2"/>
          <p:cNvSpPr/>
          <p:nvPr/>
        </p:nvSpPr>
        <p:spPr>
          <a:xfrm>
            <a:off x="6448425" y="1219835"/>
            <a:ext cx="5450205" cy="358203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en-US"/>
          </a:p>
        </p:txBody>
      </p:sp>
      <p:sp>
        <p:nvSpPr>
          <p:cNvPr id="14" name="Diagonal Corners Rounded Rectangle 13"/>
          <p:cNvSpPr/>
          <p:nvPr/>
        </p:nvSpPr>
        <p:spPr>
          <a:xfrm>
            <a:off x="6448425" y="4926330"/>
            <a:ext cx="5450840" cy="1290320"/>
          </a:xfrm>
          <a:prstGeom prst="round2DiagRect">
            <a:avLst>
              <a:gd name="adj1" fmla="val 16667"/>
              <a:gd name="adj2" fmla="val 0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en-US"/>
          </a:p>
        </p:txBody>
      </p:sp>
      <p:sp>
        <p:nvSpPr>
          <p:cNvPr id="19" name="Text Box 18"/>
          <p:cNvSpPr txBox="1"/>
          <p:nvPr/>
        </p:nvSpPr>
        <p:spPr>
          <a:xfrm>
            <a:off x="6483985" y="4958080"/>
            <a:ext cx="5408295" cy="122428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>
              <a:spcAft>
                <a:spcPct val="60000"/>
              </a:spcAft>
              <a:buNone/>
            </a:pPr>
            <a:r>
              <a:rPr sz="1700" b="1">
                <a:latin typeface="Times New Roman"/>
              </a:rPr>
              <a:t>KAUSHAL-DRISHTI</a:t>
            </a:r>
            <a:endParaRPr lang="en-US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sz="1150">
                <a:latin typeface="Times New Roman"/>
              </a:rPr>
              <a:t>Privacy-Preserving Edge-to-Cloud Real-Time Video Analytics for Vocational Training Centres — combining lightweight edge AI, in-RAM dynamic Gaussian anonymization, and spatial IoU operability scoring into an ultra-low-bandwidth (&lt;64 kbps) monitoring and statutory compliance system for MSDE.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